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AE79C9-EFAA-4104-9C24-0A0FE3712296}">
  <a:tblStyle styleId="{2EAE79C9-EFAA-4104-9C24-0A0FE371229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2" Type="http://schemas.openxmlformats.org/officeDocument/2006/relationships/font" Target="fonts/Roboto-boldItalic.fntdata"/><Relationship Id="rId9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3edb25a7012f311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3edb25a7012f311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67750" y="87200"/>
            <a:ext cx="8989500" cy="49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2C3E50"/>
                </a:solidFill>
                <a:latin typeface="Roboto"/>
                <a:ea typeface="Roboto"/>
                <a:cs typeface="Roboto"/>
                <a:sym typeface="Roboto"/>
              </a:rPr>
              <a:t>Réalisation : Formaliser les fonctionnalités de l’Administrateur</a:t>
            </a:r>
            <a:endParaRPr b="1" sz="2300">
              <a:solidFill>
                <a:srgbClr val="2C3E5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1. Règle de nommage (Acteur + Action + Élément) par Entité :</a:t>
            </a:r>
            <a:endParaRPr b="1"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Articles :</a:t>
            </a:r>
            <a:endParaRPr b="1"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L’Administrateur liste les articles.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L’Administrateur ajoute un article.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L’Administrateur modifie un article.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L’Administrateur supprime un article.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Catégories :</a:t>
            </a:r>
            <a:endParaRPr b="1"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L’Administrateur liste les catégories.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L’Administrateur ajoute une catégorie.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L’Administrateur modifie une catégorie.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L’Administrateur supprime une catégorie.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14650" y="88600"/>
            <a:ext cx="8942400" cy="495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graphicFrame>
        <p:nvGraphicFramePr>
          <p:cNvPr id="60" name="Google Shape;60;p14"/>
          <p:cNvGraphicFramePr/>
          <p:nvPr/>
        </p:nvGraphicFramePr>
        <p:xfrm>
          <a:off x="3865875" y="8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{2EAE79C9-EFAA-4104-9C24-0A0FE3712296}</a:tableStyleId>
              </a:tblPr>
              <a:tblGrid>
                <a:gridCol w="2097700"/>
                <a:gridCol w="3180425"/>
              </a:tblGrid>
              <a:tr h="710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Acteur</a:t>
                      </a:r>
                      <a:endParaRPr b="1"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14300" marL="1143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Fonctionnalités</a:t>
                      </a:r>
                      <a:endParaRPr b="1"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14300" marL="1143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417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Administrateur</a:t>
                      </a:r>
                      <a:endParaRPr b="1"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14300" marL="1143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Gestion des Articles :</a:t>
                      </a:r>
                      <a:endParaRPr b="1"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Lister les articles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Ajouter un article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Modifier un article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Supprimer un article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Gestion des Catégories :</a:t>
                      </a:r>
                      <a:endParaRPr b="1"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Lister les catégories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Ajouter une catégorie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Modifier une catégorie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Supprimer une catégorie</a:t>
                      </a:r>
                      <a:endParaRPr sz="1200">
                        <a:solidFill>
                          <a:srgbClr val="33333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14300" marB="114300" marR="114300" marL="114300">
                    <a:lnL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" name="Google Shape;61;p14"/>
          <p:cNvSpPr txBox="1"/>
          <p:nvPr/>
        </p:nvSpPr>
        <p:spPr>
          <a:xfrm>
            <a:off x="195375" y="214950"/>
            <a:ext cx="3327300" cy="4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2. Exemples de parcours fonctionnels :</a:t>
            </a:r>
            <a:endParaRPr b="1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Acteur :</a:t>
            </a:r>
            <a:r>
              <a:rPr lang="en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Administrateur </a:t>
            </a:r>
            <a:r>
              <a:rPr b="1" lang="en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Écran de départ :</a:t>
            </a:r>
            <a:r>
              <a:rPr lang="en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Page de gestion des catégories </a:t>
            </a:r>
            <a:r>
              <a:rPr b="1" lang="en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Action :</a:t>
            </a:r>
            <a:r>
              <a:rPr lang="en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Clique sur le bouton “Ajouter une catégorie” </a:t>
            </a:r>
            <a:r>
              <a:rPr b="1" lang="en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Résultat :</a:t>
            </a:r>
            <a:r>
              <a:rPr lang="en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Affichage du formulaire de création de catégorie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3. Synthèse fonctionnelle de la partie admin :</a:t>
            </a:r>
            <a:endParaRPr b="1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