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0" y="72950"/>
            <a:ext cx="9057300" cy="498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>
                <a:solidFill>
                  <a:srgbClr val="0F172A"/>
                </a:solidFill>
                <a:highlight>
                  <a:srgbClr val="F8FAFC"/>
                </a:highlight>
              </a:rPr>
              <a:t>1. Inventaire des valeurs observées</a:t>
            </a:r>
            <a:endParaRPr b="1" sz="1700">
              <a:solidFill>
                <a:srgbClr val="0F172A"/>
              </a:solidFill>
              <a:highlight>
                <a:srgbClr val="F8FAFC"/>
              </a:highlight>
            </a:endParaRPr>
          </a:p>
          <a:p>
            <a:pPr indent="-30003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ct val="100000"/>
              <a:buChar char="●"/>
            </a:pPr>
            <a:r>
              <a:rPr b="1" lang="en" sz="12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nom_auteur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 : Madani, Sara, Youssef, Amine, Nadia</a:t>
            </a:r>
            <a:endParaRPr sz="12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-3000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ct val="100000"/>
              <a:buChar char="●"/>
            </a:pPr>
            <a:r>
              <a:rPr b="1" lang="en" sz="12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prenom_auteur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 : Ali, Amrani, Karim, Idrissi, Alaoui</a:t>
            </a:r>
            <a:endParaRPr sz="12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-3000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ct val="100000"/>
              <a:buChar char="●"/>
            </a:pPr>
            <a:r>
              <a:rPr b="1" lang="en" sz="12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email_auteur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 : madani@mail.com, sara@mail.com, youssef@mail.com, amine@mail.com, nadia@mail.com</a:t>
            </a:r>
            <a:endParaRPr sz="12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-3000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ct val="100000"/>
              <a:buChar char="●"/>
            </a:pPr>
            <a:r>
              <a:rPr b="1" lang="en" sz="12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nom_ville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 : Tanger, Rabat</a:t>
            </a:r>
            <a:endParaRPr sz="12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-3000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ct val="100000"/>
              <a:buChar char="●"/>
            </a:pPr>
            <a:r>
              <a:rPr b="1" lang="en" sz="12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nom_categorie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 : Développement, Actualité</a:t>
            </a:r>
            <a:endParaRPr sz="12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>
                <a:solidFill>
                  <a:srgbClr val="0F172A"/>
                </a:solidFill>
                <a:highlight>
                  <a:srgbClr val="F8FAFC"/>
                </a:highlight>
              </a:rPr>
              <a:t>2. Valeurs répétées</a:t>
            </a:r>
            <a:endParaRPr b="1" sz="1700">
              <a:solidFill>
                <a:srgbClr val="0F172A"/>
              </a:solidFill>
              <a:highlight>
                <a:srgbClr val="F8FAFC"/>
              </a:highlight>
            </a:endParaRPr>
          </a:p>
          <a:p>
            <a:pPr indent="-30003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ct val="100000"/>
              <a:buChar char="●"/>
            </a:pPr>
            <a:r>
              <a:rPr b="1" lang="en" sz="12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Nom-ville :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 Les valeurs “Tanger” (répétée 3 fois) et “Rabat” (répétée 2 fois) se répètent pour cette donnée.</a:t>
            </a:r>
            <a:endParaRPr sz="12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-3000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ct val="100000"/>
              <a:buChar char="●"/>
            </a:pPr>
            <a:r>
              <a:rPr b="1" lang="en" sz="12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Nom_categorie</a:t>
            </a:r>
            <a:r>
              <a:rPr lang="en" sz="1250">
                <a:solidFill>
                  <a:srgbClr val="1E293B"/>
                </a:solidFill>
                <a:highlight>
                  <a:srgbClr val="F8FAFC"/>
                </a:highlight>
              </a:rPr>
              <a:t> : Les valeurs “Développement” (répétée 3 fois) et “Actualité” (répétée 2 fois) se répètent pour cette donnée.</a:t>
            </a:r>
            <a:endParaRPr sz="12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-3000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ct val="100000"/>
              <a:buChar char="●"/>
            </a:pPr>
            <a:r>
              <a:rPr i="1" lang="en" sz="1250">
                <a:solidFill>
                  <a:srgbClr val="1E293B"/>
                </a:solidFill>
                <a:highlight>
                  <a:srgbClr val="F8FAFC"/>
                </a:highlight>
              </a:rPr>
              <a:t>(Note : Les données </a:t>
            </a:r>
            <a:r>
              <a:rPr b="1" i="1" lang="en" sz="12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nom_auteur</a:t>
            </a:r>
            <a:r>
              <a:rPr i="1" lang="en" sz="1250">
                <a:solidFill>
                  <a:srgbClr val="1E293B"/>
                </a:solidFill>
                <a:highlight>
                  <a:srgbClr val="F8FAFC"/>
                </a:highlight>
              </a:rPr>
              <a:t>, </a:t>
            </a:r>
            <a:r>
              <a:rPr b="1" i="1" lang="en" sz="12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prenom_auteur</a:t>
            </a:r>
            <a:r>
              <a:rPr i="1" lang="en" sz="1250">
                <a:solidFill>
                  <a:srgbClr val="1E293B"/>
                </a:solidFill>
                <a:highlight>
                  <a:srgbClr val="F8FAFC"/>
                </a:highlight>
              </a:rPr>
              <a:t>, et </a:t>
            </a:r>
            <a:r>
              <a:rPr b="1" i="1" lang="en" sz="1250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email_auteur</a:t>
            </a:r>
            <a:r>
              <a:rPr i="1" lang="en" sz="1250">
                <a:solidFill>
                  <a:srgbClr val="1E293B"/>
                </a:solidFill>
                <a:highlight>
                  <a:srgbClr val="F8FAFC"/>
                </a:highlight>
              </a:rPr>
              <a:t> n’ont aucune valeur répétée dans ce tableau précis).</a:t>
            </a:r>
            <a:endParaRPr i="1" sz="1250">
              <a:solidFill>
                <a:srgbClr val="1E293B"/>
              </a:solidFill>
              <a:highlight>
                <a:srgbClr val="F8FA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>
                <a:solidFill>
                  <a:srgbClr val="0F172A"/>
                </a:solidFill>
                <a:highlight>
                  <a:srgbClr val="F8FAFC"/>
                </a:highlight>
              </a:rPr>
              <a:t>3. Le problème lié aux répétitions</a:t>
            </a:r>
            <a:endParaRPr b="1" sz="1700">
              <a:solidFill>
                <a:srgbClr val="0F172A"/>
              </a:solidFill>
              <a:highlight>
                <a:srgbClr val="F8FA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9518"/>
              <a:buFont typeface="Arial"/>
              <a:buNone/>
            </a:pPr>
            <a:r>
              <a:rPr b="1" lang="en" sz="1383">
                <a:solidFill>
                  <a:srgbClr val="475569"/>
                </a:solidFill>
                <a:highlight>
                  <a:srgbClr val="F8FAFC"/>
                </a:highlight>
              </a:rPr>
              <a:t>Choix de la répétition :</a:t>
            </a:r>
            <a:r>
              <a:rPr lang="en" sz="1383">
                <a:solidFill>
                  <a:srgbClr val="475569"/>
                </a:solidFill>
                <a:highlight>
                  <a:srgbClr val="F8FAFC"/>
                </a:highlight>
              </a:rPr>
              <a:t> La valeur “Tanger” pour la donnée </a:t>
            </a:r>
            <a:r>
              <a:rPr b="1" lang="en" sz="1383">
                <a:solidFill>
                  <a:srgbClr val="1C5BBA"/>
                </a:solidFill>
                <a:highlight>
                  <a:srgbClr val="E0EDFF"/>
                </a:highlight>
                <a:latin typeface="Courier New"/>
                <a:ea typeface="Courier New"/>
                <a:cs typeface="Courier New"/>
                <a:sym typeface="Courier New"/>
              </a:rPr>
              <a:t>nom_ville</a:t>
            </a:r>
            <a:r>
              <a:rPr lang="en" sz="1383">
                <a:solidFill>
                  <a:srgbClr val="475569"/>
                </a:solidFill>
                <a:highlight>
                  <a:srgbClr val="F8FAFC"/>
                </a:highlight>
              </a:rPr>
              <a:t> </a:t>
            </a:r>
            <a:endParaRPr sz="1383">
              <a:solidFill>
                <a:srgbClr val="475569"/>
              </a:solidFill>
              <a:highlight>
                <a:srgbClr val="F8FA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" sz="1383">
                <a:solidFill>
                  <a:srgbClr val="475569"/>
                </a:solidFill>
                <a:highlight>
                  <a:srgbClr val="F8FAFC"/>
                </a:highlight>
              </a:rPr>
              <a:t>Le problème lors d’une modification :</a:t>
            </a:r>
            <a:r>
              <a:rPr lang="en" sz="1383">
                <a:solidFill>
                  <a:srgbClr val="475569"/>
                </a:solidFill>
                <a:highlight>
                  <a:srgbClr val="F8FAFC"/>
                </a:highlight>
              </a:rPr>
              <a:t> Si l’on devait modifier le nom de la ville “Tanger” (par exemple pour corriger une faute de frappe en “Tangier”), il faudrait rechercher et modifier cette information manuellement sur les 3 lignes différentes du tableau. Si le fichier contenait des milliers de lignes, il y aurait un très fort risque d’oublier de modifier une occurrence, ce qui créerait des erreurs et des incohérences dans les données.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