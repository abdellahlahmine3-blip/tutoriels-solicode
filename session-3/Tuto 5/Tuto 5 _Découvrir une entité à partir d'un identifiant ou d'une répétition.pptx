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87200"/>
            <a:ext cx="8520600" cy="494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pc="55" sz="1100">
                <a:solidFill>
                  <a:srgbClr val="1E293B"/>
                </a:solidFill>
                <a:highlight>
                  <a:srgbClr val="F8FAFC"/>
                </a:highlight>
              </a:rPr>
              <a:t>Donnée observée    Valeur répétée (exemple)     Réalité représentée   Identifiant proposé      Dépendance fonctionnelle</a:t>
            </a:r>
            <a:endParaRPr spc="55" sz="1100">
              <a:solidFill>
                <a:srgbClr val="1E293B"/>
              </a:solidFill>
              <a:highlight>
                <a:srgbClr val="F8FA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Nom_auteur      </a:t>
            </a:r>
            <a:r>
              <a:rPr lang="en" sz="1100">
                <a:solidFill>
                  <a:srgbClr val="334155"/>
                </a:solidFill>
                <a:highlight>
                  <a:srgbClr val="F8FAFC"/>
                </a:highlight>
              </a:rPr>
              <a:t>Madani (x3)                                 Auteur                            </a:t>
            </a:r>
            <a:r>
              <a:rPr b="1" lang="en" sz="110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id_auteur         id_auteur -&gt; nom_auteur</a:t>
            </a:r>
            <a:endParaRPr b="1" sz="110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Nom_ville       </a:t>
            </a:r>
            <a:r>
              <a:rPr lang="en" sz="1100">
                <a:solidFill>
                  <a:srgbClr val="334155"/>
                </a:solidFill>
                <a:highlight>
                  <a:srgbClr val="F8FAFC"/>
                </a:highlight>
              </a:rPr>
              <a:t>Tanger (x3)</a:t>
            </a:r>
            <a:r>
              <a:rPr lang="en" sz="1100">
                <a:solidFill>
                  <a:srgbClr val="334155"/>
                </a:solidFill>
                <a:highlight>
                  <a:srgbClr val="F8FAFC"/>
                </a:highlight>
              </a:rPr>
              <a:t>,</a:t>
            </a:r>
            <a:r>
              <a:rPr lang="en" sz="1100">
                <a:solidFill>
                  <a:srgbClr val="334155"/>
                </a:solidFill>
                <a:highlight>
                  <a:srgbClr val="F8FAFC"/>
                </a:highlight>
              </a:rPr>
              <a:t>Rabat (x2)                Ville                                </a:t>
            </a:r>
            <a:r>
              <a:rPr b="1" lang="en" sz="110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id_ville          id_ville -&gt; nom_ville</a:t>
            </a:r>
            <a:endParaRPr b="1" sz="110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Nom_categorie   </a:t>
            </a:r>
            <a:r>
              <a:rPr lang="en" sz="1100">
                <a:solidFill>
                  <a:srgbClr val="334155"/>
                </a:solidFill>
                <a:highlight>
                  <a:srgbClr val="F8FAFC"/>
                </a:highlight>
              </a:rPr>
              <a:t>Développement (x4)                    Catégorie                      </a:t>
            </a:r>
            <a:r>
              <a:rPr b="1" lang="en" sz="110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id_categorie  id_categorie-&gt;nom_categorie</a:t>
            </a:r>
            <a:endParaRPr b="1" sz="1700">
              <a:solidFill>
                <a:srgbClr val="0F172A"/>
              </a:solidFill>
              <a:highlight>
                <a:srgbClr val="F8FA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0F172A"/>
                </a:solidFill>
                <a:highlight>
                  <a:srgbClr val="F8FAFC"/>
                </a:highlight>
              </a:rPr>
              <a:t>Analyse du cheminement logique :</a:t>
            </a:r>
            <a:endParaRPr b="1" sz="1700">
              <a:solidFill>
                <a:srgbClr val="0F172A"/>
              </a:solidFill>
              <a:highlight>
                <a:srgbClr val="F8FAFC"/>
              </a:highlight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250"/>
              <a:buAutoNum type="arabicPeriod"/>
            </a:pPr>
            <a:r>
              <a:rPr b="1" lang="en" sz="1250">
                <a:solidFill>
                  <a:srgbClr val="1E293B"/>
                </a:solidFill>
                <a:highlight>
                  <a:srgbClr val="F8FAFC"/>
                </a:highlight>
              </a:rPr>
              <a:t>Donnée :</a:t>
            </a:r>
            <a:r>
              <a:rPr lang="en" sz="1250">
                <a:solidFill>
                  <a:srgbClr val="1E293B"/>
                </a:solidFill>
                <a:highlight>
                  <a:srgbClr val="F8FAFC"/>
                </a:highlight>
              </a:rPr>
              <a:t> On part d’une donnée brute du dictionnaire (</a:t>
            </a:r>
            <a:r>
              <a:rPr b="1" lang="en" sz="12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nom_ville</a:t>
            </a:r>
            <a:r>
              <a:rPr lang="en" sz="1250">
                <a:solidFill>
                  <a:srgbClr val="1E293B"/>
                </a:solidFill>
                <a:highlight>
                  <a:srgbClr val="F8FAFC"/>
                </a:highlight>
              </a:rPr>
              <a:t>).</a:t>
            </a:r>
            <a:endParaRPr sz="1250">
              <a:solidFill>
                <a:srgbClr val="1E293B"/>
              </a:solidFill>
              <a:highlight>
                <a:srgbClr val="F8FAFC"/>
              </a:highlight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AutoNum type="arabicPeriod"/>
            </a:pPr>
            <a:r>
              <a:rPr b="1" lang="en" sz="1250">
                <a:solidFill>
                  <a:srgbClr val="1E293B"/>
                </a:solidFill>
                <a:highlight>
                  <a:srgbClr val="F8FAFC"/>
                </a:highlight>
              </a:rPr>
              <a:t>Observation de Répétition :</a:t>
            </a:r>
            <a:r>
              <a:rPr lang="en" sz="1250">
                <a:solidFill>
                  <a:srgbClr val="1E293B"/>
                </a:solidFill>
                <a:highlight>
                  <a:srgbClr val="F8FAFC"/>
                </a:highlight>
              </a:rPr>
              <a:t> On constate que “Tanger” se répète de nombreuses fois de manière identique.</a:t>
            </a:r>
            <a:endParaRPr sz="1250">
              <a:solidFill>
                <a:srgbClr val="1E293B"/>
              </a:solidFill>
              <a:highlight>
                <a:srgbClr val="F8FAFC"/>
              </a:highlight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AutoNum type="arabicPeriod"/>
            </a:pPr>
            <a:r>
              <a:rPr b="1" lang="en" sz="1250">
                <a:solidFill>
                  <a:srgbClr val="1E293B"/>
                </a:solidFill>
                <a:highlight>
                  <a:srgbClr val="F8FAFC"/>
                </a:highlight>
              </a:rPr>
              <a:t>Déduction de Réalité :</a:t>
            </a:r>
            <a:r>
              <a:rPr lang="en" sz="1250">
                <a:solidFill>
                  <a:srgbClr val="1E293B"/>
                </a:solidFill>
                <a:highlight>
                  <a:srgbClr val="F8FAFC"/>
                </a:highlight>
              </a:rPr>
              <a:t> Cette répétition nous indique que la ville existe par elle-même indépendamment de l’auteur. C’est une </a:t>
            </a:r>
            <a:r>
              <a:rPr b="1" lang="en" sz="1250">
                <a:solidFill>
                  <a:srgbClr val="1E293B"/>
                </a:solidFill>
                <a:highlight>
                  <a:srgbClr val="F8FAFC"/>
                </a:highlight>
              </a:rPr>
              <a:t>entité</a:t>
            </a:r>
            <a:r>
              <a:rPr lang="en" sz="1250">
                <a:solidFill>
                  <a:srgbClr val="1E293B"/>
                </a:solidFill>
                <a:highlight>
                  <a:srgbClr val="F8FAFC"/>
                </a:highlight>
              </a:rPr>
              <a:t> distincte (Ville).</a:t>
            </a:r>
            <a:endParaRPr sz="1250">
              <a:solidFill>
                <a:srgbClr val="1E293B"/>
              </a:solidFill>
              <a:highlight>
                <a:srgbClr val="F8FAFC"/>
              </a:highlight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AutoNum type="arabicPeriod"/>
            </a:pPr>
            <a:r>
              <a:rPr b="1" lang="en" sz="1250">
                <a:solidFill>
                  <a:srgbClr val="1E293B"/>
                </a:solidFill>
                <a:highlight>
                  <a:srgbClr val="F8FAFC"/>
                </a:highlight>
              </a:rPr>
              <a:t>Création de l’ID :</a:t>
            </a:r>
            <a:r>
              <a:rPr lang="en" sz="1250">
                <a:solidFill>
                  <a:srgbClr val="1E293B"/>
                </a:solidFill>
                <a:highlight>
                  <a:srgbClr val="F8FAFC"/>
                </a:highlight>
              </a:rPr>
              <a:t> Pour identifier cette nouvelle entité de manière unique, on lui crée un identifiant technique (</a:t>
            </a:r>
            <a:r>
              <a:rPr b="1" lang="en" sz="12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id_ville</a:t>
            </a:r>
            <a:r>
              <a:rPr lang="en" sz="1250">
                <a:solidFill>
                  <a:srgbClr val="1E293B"/>
                </a:solidFill>
                <a:highlight>
                  <a:srgbClr val="F8FAFC"/>
                </a:highlight>
              </a:rPr>
              <a:t>).</a:t>
            </a:r>
            <a:endParaRPr sz="1250">
              <a:solidFill>
                <a:srgbClr val="1E293B"/>
              </a:solidFill>
              <a:highlight>
                <a:srgbClr val="F8FAFC"/>
              </a:highlight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AutoNum type="arabicPeriod"/>
            </a:pPr>
            <a:r>
              <a:rPr b="1" lang="en" sz="1250">
                <a:solidFill>
                  <a:srgbClr val="1E293B"/>
                </a:solidFill>
                <a:highlight>
                  <a:srgbClr val="F8FAFC"/>
                </a:highlight>
              </a:rPr>
              <a:t>Dépendance :</a:t>
            </a:r>
            <a:r>
              <a:rPr lang="en" sz="1250">
                <a:solidFill>
                  <a:srgbClr val="1E293B"/>
                </a:solidFill>
                <a:highlight>
                  <a:srgbClr val="F8FAFC"/>
                </a:highlight>
              </a:rPr>
              <a:t> Désormais, le nom de la ville dépend de ce nouvel identifiant. Si l’identifiant est le “2”, le nom sera “Tanger” (</a:t>
            </a:r>
            <a:r>
              <a:rPr b="1" lang="en" sz="12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id_ville -&gt; nom_ville</a:t>
            </a:r>
            <a:r>
              <a:rPr lang="en" sz="1250">
                <a:solidFill>
                  <a:srgbClr val="1E293B"/>
                </a:solidFill>
                <a:highlight>
                  <a:srgbClr val="F8FAFC"/>
                </a:highlight>
              </a:rPr>
              <a:t>).</a:t>
            </a:r>
            <a:endParaRPr sz="1250">
              <a:solidFill>
                <a:srgbClr val="1E293B"/>
              </a:solidFill>
              <a:highlight>
                <a:srgbClr val="F8FAFC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